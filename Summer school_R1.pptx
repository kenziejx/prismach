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6" r:id="rId3"/>
    <p:sldId id="257" r:id="rId4"/>
    <p:sldId id="260" r:id="rId5"/>
    <p:sldId id="273" r:id="rId6"/>
    <p:sldId id="277" r:id="rId7"/>
    <p:sldId id="274" r:id="rId8"/>
    <p:sldId id="27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633947-8B11-4748-99EE-EF58448AF494}" type="doc">
      <dgm:prSet loTypeId="urn:microsoft.com/office/officeart/2005/8/layout/orgChart1" loCatId="hierarchy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IE"/>
        </a:p>
      </dgm:t>
    </dgm:pt>
    <dgm:pt modelId="{C57FC8E8-F8FC-42E4-A5C2-5932E13EDB9D}">
      <dgm:prSet phldrT="[Text]" phldr="0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GB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Set of scenarios (763)</a:t>
          </a:r>
          <a:endParaRPr lang="en-IE" sz="2500" dirty="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2864CA-F148-4925-B038-6F8025459407}" type="parTrans" cxnId="{12DB8F73-D817-42FC-B913-96A9FF0A9112}">
      <dgm:prSet/>
      <dgm:spPr/>
      <dgm:t>
        <a:bodyPr/>
        <a:lstStyle/>
        <a:p>
          <a:endParaRPr lang="en-IE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99FECC-3D86-49DA-84B8-761CE4649C99}" type="sibTrans" cxnId="{12DB8F73-D817-42FC-B913-96A9FF0A9112}">
      <dgm:prSet/>
      <dgm:spPr/>
      <dgm:t>
        <a:bodyPr/>
        <a:lstStyle/>
        <a:p>
          <a:endParaRPr lang="en-IE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0897B8-8083-4BB7-8D07-889761FD82AF}">
      <dgm:prSet phldrT="[Text]" phldr="0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rtl="0"/>
          <a:r>
            <a:rPr lang="en-GB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Emissions </a:t>
          </a:r>
        </a:p>
      </dgm:t>
    </dgm:pt>
    <dgm:pt modelId="{4B377A16-0430-4033-BA7E-384D70C5EB11}" type="parTrans" cxnId="{E33F6A7D-73B5-4964-9B75-A791F01B07D6}">
      <dgm:prSet/>
      <dgm:spPr/>
      <dgm:t>
        <a:bodyPr/>
        <a:lstStyle/>
        <a:p>
          <a:endParaRPr lang="en-IE" sz="250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00E57C-993F-493F-B0AD-9C6B0AB2EE95}" type="sibTrans" cxnId="{E33F6A7D-73B5-4964-9B75-A791F01B07D6}">
      <dgm:prSet/>
      <dgm:spPr/>
      <dgm:t>
        <a:bodyPr/>
        <a:lstStyle/>
        <a:p>
          <a:endParaRPr lang="en-IE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FC48C9-2D56-47C6-91F5-04176E04A557}">
      <dgm:prSet phldrT="[Text]" phldr="0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rtl="0"/>
          <a:r>
            <a:rPr lang="en-GB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Energy consumption </a:t>
          </a:r>
        </a:p>
        <a:p>
          <a:pPr rtl="0"/>
          <a:r>
            <a:rPr lang="en-GB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per capita</a:t>
          </a:r>
          <a:endParaRPr lang="en-IE" sz="2500" dirty="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FA16DB-DE3D-42CC-9296-2EFFDD303D3F}" type="parTrans" cxnId="{EF5BABE0-9B96-4D0C-8840-9A0F4A4858C0}">
      <dgm:prSet/>
      <dgm:spPr/>
      <dgm:t>
        <a:bodyPr/>
        <a:lstStyle/>
        <a:p>
          <a:endParaRPr lang="en-IE" sz="250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9436C9-743C-483F-8BA0-8AA937669F3B}" type="sibTrans" cxnId="{EF5BABE0-9B96-4D0C-8840-9A0F4A4858C0}">
      <dgm:prSet/>
      <dgm:spPr/>
      <dgm:t>
        <a:bodyPr/>
        <a:lstStyle/>
        <a:p>
          <a:endParaRPr lang="en-IE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E00FF3-6E1B-4ADF-AE73-CE9AEBEBA699}" type="pres">
      <dgm:prSet presAssocID="{A1633947-8B11-4748-99EE-EF58448AF4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476DFEE-0799-4E5A-909F-8F6ED8CF4234}" type="pres">
      <dgm:prSet presAssocID="{C57FC8E8-F8FC-42E4-A5C2-5932E13EDB9D}" presName="hierRoot1" presStyleCnt="0">
        <dgm:presLayoutVars>
          <dgm:hierBranch val="init"/>
        </dgm:presLayoutVars>
      </dgm:prSet>
      <dgm:spPr/>
    </dgm:pt>
    <dgm:pt modelId="{668D54AB-604D-4463-BEDD-A702B8F4CE8E}" type="pres">
      <dgm:prSet presAssocID="{C57FC8E8-F8FC-42E4-A5C2-5932E13EDB9D}" presName="rootComposite1" presStyleCnt="0"/>
      <dgm:spPr/>
    </dgm:pt>
    <dgm:pt modelId="{B78E923D-69CC-4694-84CA-15F069969C87}" type="pres">
      <dgm:prSet presAssocID="{C57FC8E8-F8FC-42E4-A5C2-5932E13EDB9D}" presName="rootText1" presStyleLbl="node0" presStyleIdx="0" presStyleCnt="1" custScaleX="148529">
        <dgm:presLayoutVars>
          <dgm:chPref val="3"/>
        </dgm:presLayoutVars>
      </dgm:prSet>
      <dgm:spPr/>
    </dgm:pt>
    <dgm:pt modelId="{0C8E79AB-069D-4A30-8EEB-0700F4461128}" type="pres">
      <dgm:prSet presAssocID="{C57FC8E8-F8FC-42E4-A5C2-5932E13EDB9D}" presName="rootConnector1" presStyleLbl="node1" presStyleIdx="0" presStyleCnt="0"/>
      <dgm:spPr/>
    </dgm:pt>
    <dgm:pt modelId="{8E9477CB-1D87-4C58-A05F-65D7114D8F0F}" type="pres">
      <dgm:prSet presAssocID="{C57FC8E8-F8FC-42E4-A5C2-5932E13EDB9D}" presName="hierChild2" presStyleCnt="0"/>
      <dgm:spPr/>
    </dgm:pt>
    <dgm:pt modelId="{ED4B4C98-E635-4D4F-97A7-0FBE113E0489}" type="pres">
      <dgm:prSet presAssocID="{4B377A16-0430-4033-BA7E-384D70C5EB11}" presName="Name37" presStyleLbl="parChTrans1D2" presStyleIdx="0" presStyleCnt="2"/>
      <dgm:spPr/>
    </dgm:pt>
    <dgm:pt modelId="{1FA4D154-0F3F-4F9E-B541-6D7C280FE3E8}" type="pres">
      <dgm:prSet presAssocID="{A90897B8-8083-4BB7-8D07-889761FD82AF}" presName="hierRoot2" presStyleCnt="0">
        <dgm:presLayoutVars>
          <dgm:hierBranch val="init"/>
        </dgm:presLayoutVars>
      </dgm:prSet>
      <dgm:spPr/>
    </dgm:pt>
    <dgm:pt modelId="{D818D00E-6E65-4806-A612-3D752964D4B8}" type="pres">
      <dgm:prSet presAssocID="{A90897B8-8083-4BB7-8D07-889761FD82AF}" presName="rootComposite" presStyleCnt="0"/>
      <dgm:spPr/>
    </dgm:pt>
    <dgm:pt modelId="{FF19F743-08B4-416D-983D-51AD7BD1A4DD}" type="pres">
      <dgm:prSet presAssocID="{A90897B8-8083-4BB7-8D07-889761FD82AF}" presName="rootText" presStyleLbl="node2" presStyleIdx="0" presStyleCnt="2" custScaleX="172351" custScaleY="93528">
        <dgm:presLayoutVars>
          <dgm:chPref val="3"/>
        </dgm:presLayoutVars>
      </dgm:prSet>
      <dgm:spPr/>
    </dgm:pt>
    <dgm:pt modelId="{B682345F-203B-4A33-ACC2-01A67F515F60}" type="pres">
      <dgm:prSet presAssocID="{A90897B8-8083-4BB7-8D07-889761FD82AF}" presName="rootConnector" presStyleLbl="node2" presStyleIdx="0" presStyleCnt="2"/>
      <dgm:spPr/>
    </dgm:pt>
    <dgm:pt modelId="{692DB297-0689-4931-B125-84FF4622FB2E}" type="pres">
      <dgm:prSet presAssocID="{A90897B8-8083-4BB7-8D07-889761FD82AF}" presName="hierChild4" presStyleCnt="0"/>
      <dgm:spPr/>
    </dgm:pt>
    <dgm:pt modelId="{940851C3-BF7B-456F-BB13-C2083857E381}" type="pres">
      <dgm:prSet presAssocID="{A90897B8-8083-4BB7-8D07-889761FD82AF}" presName="hierChild5" presStyleCnt="0"/>
      <dgm:spPr/>
    </dgm:pt>
    <dgm:pt modelId="{D5461B9D-E97F-4554-95AE-C576BFF4BA68}" type="pres">
      <dgm:prSet presAssocID="{F6FA16DB-DE3D-42CC-9296-2EFFDD303D3F}" presName="Name37" presStyleLbl="parChTrans1D2" presStyleIdx="1" presStyleCnt="2"/>
      <dgm:spPr/>
    </dgm:pt>
    <dgm:pt modelId="{4F0B1572-B23C-44DD-B867-292A1061D4E9}" type="pres">
      <dgm:prSet presAssocID="{18FC48C9-2D56-47C6-91F5-04176E04A557}" presName="hierRoot2" presStyleCnt="0">
        <dgm:presLayoutVars>
          <dgm:hierBranch val="init"/>
        </dgm:presLayoutVars>
      </dgm:prSet>
      <dgm:spPr/>
    </dgm:pt>
    <dgm:pt modelId="{0AF0B8D8-5EA6-4661-A749-E86631B70029}" type="pres">
      <dgm:prSet presAssocID="{18FC48C9-2D56-47C6-91F5-04176E04A557}" presName="rootComposite" presStyleCnt="0"/>
      <dgm:spPr/>
    </dgm:pt>
    <dgm:pt modelId="{2BE7BE2A-89A2-4E14-8607-2BC060839A2E}" type="pres">
      <dgm:prSet presAssocID="{18FC48C9-2D56-47C6-91F5-04176E04A557}" presName="rootText" presStyleLbl="node2" presStyleIdx="1" presStyleCnt="2" custScaleX="172351" custScaleY="93528">
        <dgm:presLayoutVars>
          <dgm:chPref val="3"/>
        </dgm:presLayoutVars>
      </dgm:prSet>
      <dgm:spPr/>
    </dgm:pt>
    <dgm:pt modelId="{5E7238AE-9B69-4190-8BDA-507A639354CA}" type="pres">
      <dgm:prSet presAssocID="{18FC48C9-2D56-47C6-91F5-04176E04A557}" presName="rootConnector" presStyleLbl="node2" presStyleIdx="1" presStyleCnt="2"/>
      <dgm:spPr/>
    </dgm:pt>
    <dgm:pt modelId="{E40A465B-7A46-45FE-888E-0F8B1A04E148}" type="pres">
      <dgm:prSet presAssocID="{18FC48C9-2D56-47C6-91F5-04176E04A557}" presName="hierChild4" presStyleCnt="0"/>
      <dgm:spPr/>
    </dgm:pt>
    <dgm:pt modelId="{B6CA2CF5-DE47-41FB-ABE1-282FB6212EE5}" type="pres">
      <dgm:prSet presAssocID="{18FC48C9-2D56-47C6-91F5-04176E04A557}" presName="hierChild5" presStyleCnt="0"/>
      <dgm:spPr/>
    </dgm:pt>
    <dgm:pt modelId="{19540B0B-7EB3-4047-8ED7-530C49433B07}" type="pres">
      <dgm:prSet presAssocID="{C57FC8E8-F8FC-42E4-A5C2-5932E13EDB9D}" presName="hierChild3" presStyleCnt="0"/>
      <dgm:spPr/>
    </dgm:pt>
  </dgm:ptLst>
  <dgm:cxnLst>
    <dgm:cxn modelId="{6EF51F01-548A-459A-9F84-22C0B39FD284}" type="presOf" srcId="{18FC48C9-2D56-47C6-91F5-04176E04A557}" destId="{5E7238AE-9B69-4190-8BDA-507A639354CA}" srcOrd="1" destOrd="0" presId="urn:microsoft.com/office/officeart/2005/8/layout/orgChart1"/>
    <dgm:cxn modelId="{DA24A40C-BB93-4D54-9B55-3BE90BC9477A}" type="presOf" srcId="{4B377A16-0430-4033-BA7E-384D70C5EB11}" destId="{ED4B4C98-E635-4D4F-97A7-0FBE113E0489}" srcOrd="0" destOrd="0" presId="urn:microsoft.com/office/officeart/2005/8/layout/orgChart1"/>
    <dgm:cxn modelId="{0E768215-025F-4C3E-9875-372EBF4B14EB}" type="presOf" srcId="{A90897B8-8083-4BB7-8D07-889761FD82AF}" destId="{B682345F-203B-4A33-ACC2-01A67F515F60}" srcOrd="1" destOrd="0" presId="urn:microsoft.com/office/officeart/2005/8/layout/orgChart1"/>
    <dgm:cxn modelId="{4D201B4D-EC3F-4BD7-AD8A-188DC1505348}" type="presOf" srcId="{C57FC8E8-F8FC-42E4-A5C2-5932E13EDB9D}" destId="{B78E923D-69CC-4694-84CA-15F069969C87}" srcOrd="0" destOrd="0" presId="urn:microsoft.com/office/officeart/2005/8/layout/orgChart1"/>
    <dgm:cxn modelId="{12DB8F73-D817-42FC-B913-96A9FF0A9112}" srcId="{A1633947-8B11-4748-99EE-EF58448AF494}" destId="{C57FC8E8-F8FC-42E4-A5C2-5932E13EDB9D}" srcOrd="0" destOrd="0" parTransId="{562864CA-F148-4925-B038-6F8025459407}" sibTransId="{4299FECC-3D86-49DA-84B8-761CE4649C99}"/>
    <dgm:cxn modelId="{E33F6A7D-73B5-4964-9B75-A791F01B07D6}" srcId="{C57FC8E8-F8FC-42E4-A5C2-5932E13EDB9D}" destId="{A90897B8-8083-4BB7-8D07-889761FD82AF}" srcOrd="0" destOrd="0" parTransId="{4B377A16-0430-4033-BA7E-384D70C5EB11}" sibTransId="{3900E57C-993F-493F-B0AD-9C6B0AB2EE95}"/>
    <dgm:cxn modelId="{F771D38D-6F0A-472F-AA88-F9E12A592AD7}" type="presOf" srcId="{F6FA16DB-DE3D-42CC-9296-2EFFDD303D3F}" destId="{D5461B9D-E97F-4554-95AE-C576BFF4BA68}" srcOrd="0" destOrd="0" presId="urn:microsoft.com/office/officeart/2005/8/layout/orgChart1"/>
    <dgm:cxn modelId="{8F40F9A3-81FF-4191-B30E-319B9FA7AE31}" type="presOf" srcId="{A90897B8-8083-4BB7-8D07-889761FD82AF}" destId="{FF19F743-08B4-416D-983D-51AD7BD1A4DD}" srcOrd="0" destOrd="0" presId="urn:microsoft.com/office/officeart/2005/8/layout/orgChart1"/>
    <dgm:cxn modelId="{E8B3DBAB-BB4B-4902-8A8E-D164547239D4}" type="presOf" srcId="{18FC48C9-2D56-47C6-91F5-04176E04A557}" destId="{2BE7BE2A-89A2-4E14-8607-2BC060839A2E}" srcOrd="0" destOrd="0" presId="urn:microsoft.com/office/officeart/2005/8/layout/orgChart1"/>
    <dgm:cxn modelId="{8E34F4B7-CA17-4323-BBD6-8C0AEEDD1C94}" type="presOf" srcId="{C57FC8E8-F8FC-42E4-A5C2-5932E13EDB9D}" destId="{0C8E79AB-069D-4A30-8EEB-0700F4461128}" srcOrd="1" destOrd="0" presId="urn:microsoft.com/office/officeart/2005/8/layout/orgChart1"/>
    <dgm:cxn modelId="{EF5BABE0-9B96-4D0C-8840-9A0F4A4858C0}" srcId="{C57FC8E8-F8FC-42E4-A5C2-5932E13EDB9D}" destId="{18FC48C9-2D56-47C6-91F5-04176E04A557}" srcOrd="1" destOrd="0" parTransId="{F6FA16DB-DE3D-42CC-9296-2EFFDD303D3F}" sibTransId="{699436C9-743C-483F-8BA0-8AA937669F3B}"/>
    <dgm:cxn modelId="{9BA68DF5-2DE0-4D9A-B994-D00CF4CEDF4F}" type="presOf" srcId="{A1633947-8B11-4748-99EE-EF58448AF494}" destId="{07E00FF3-6E1B-4ADF-AE73-CE9AEBEBA699}" srcOrd="0" destOrd="0" presId="urn:microsoft.com/office/officeart/2005/8/layout/orgChart1"/>
    <dgm:cxn modelId="{254552F9-6B61-4E67-B133-E3DD95424E44}" type="presParOf" srcId="{07E00FF3-6E1B-4ADF-AE73-CE9AEBEBA699}" destId="{D476DFEE-0799-4E5A-909F-8F6ED8CF4234}" srcOrd="0" destOrd="0" presId="urn:microsoft.com/office/officeart/2005/8/layout/orgChart1"/>
    <dgm:cxn modelId="{96030CD3-6E5E-4742-AA66-E47541A13A0C}" type="presParOf" srcId="{D476DFEE-0799-4E5A-909F-8F6ED8CF4234}" destId="{668D54AB-604D-4463-BEDD-A702B8F4CE8E}" srcOrd="0" destOrd="0" presId="urn:microsoft.com/office/officeart/2005/8/layout/orgChart1"/>
    <dgm:cxn modelId="{758C288B-02C6-4F3E-8D45-D5BAC3C8E847}" type="presParOf" srcId="{668D54AB-604D-4463-BEDD-A702B8F4CE8E}" destId="{B78E923D-69CC-4694-84CA-15F069969C87}" srcOrd="0" destOrd="0" presId="urn:microsoft.com/office/officeart/2005/8/layout/orgChart1"/>
    <dgm:cxn modelId="{CFAFD7FD-901D-4878-A057-7269ED39D98C}" type="presParOf" srcId="{668D54AB-604D-4463-BEDD-A702B8F4CE8E}" destId="{0C8E79AB-069D-4A30-8EEB-0700F4461128}" srcOrd="1" destOrd="0" presId="urn:microsoft.com/office/officeart/2005/8/layout/orgChart1"/>
    <dgm:cxn modelId="{DA3585DC-0AC2-42C5-980B-C395AA9F4C8D}" type="presParOf" srcId="{D476DFEE-0799-4E5A-909F-8F6ED8CF4234}" destId="{8E9477CB-1D87-4C58-A05F-65D7114D8F0F}" srcOrd="1" destOrd="0" presId="urn:microsoft.com/office/officeart/2005/8/layout/orgChart1"/>
    <dgm:cxn modelId="{E5C31D41-5AE4-4DA6-ABA9-3C563225756A}" type="presParOf" srcId="{8E9477CB-1D87-4C58-A05F-65D7114D8F0F}" destId="{ED4B4C98-E635-4D4F-97A7-0FBE113E0489}" srcOrd="0" destOrd="0" presId="urn:microsoft.com/office/officeart/2005/8/layout/orgChart1"/>
    <dgm:cxn modelId="{AE38F94B-229A-4166-BBF1-EB1E3B36E8A2}" type="presParOf" srcId="{8E9477CB-1D87-4C58-A05F-65D7114D8F0F}" destId="{1FA4D154-0F3F-4F9E-B541-6D7C280FE3E8}" srcOrd="1" destOrd="0" presId="urn:microsoft.com/office/officeart/2005/8/layout/orgChart1"/>
    <dgm:cxn modelId="{C32BF703-D1C5-448B-B62C-9E7DC149EB3D}" type="presParOf" srcId="{1FA4D154-0F3F-4F9E-B541-6D7C280FE3E8}" destId="{D818D00E-6E65-4806-A612-3D752964D4B8}" srcOrd="0" destOrd="0" presId="urn:microsoft.com/office/officeart/2005/8/layout/orgChart1"/>
    <dgm:cxn modelId="{7C4A516C-F897-4F6E-841B-C32B4BF77B51}" type="presParOf" srcId="{D818D00E-6E65-4806-A612-3D752964D4B8}" destId="{FF19F743-08B4-416D-983D-51AD7BD1A4DD}" srcOrd="0" destOrd="0" presId="urn:microsoft.com/office/officeart/2005/8/layout/orgChart1"/>
    <dgm:cxn modelId="{AB88FF31-58D1-472B-B3E7-16FD2D97ACE2}" type="presParOf" srcId="{D818D00E-6E65-4806-A612-3D752964D4B8}" destId="{B682345F-203B-4A33-ACC2-01A67F515F60}" srcOrd="1" destOrd="0" presId="urn:microsoft.com/office/officeart/2005/8/layout/orgChart1"/>
    <dgm:cxn modelId="{6765DBA1-B677-4755-934D-D8E3FF4EA4A1}" type="presParOf" srcId="{1FA4D154-0F3F-4F9E-B541-6D7C280FE3E8}" destId="{692DB297-0689-4931-B125-84FF4622FB2E}" srcOrd="1" destOrd="0" presId="urn:microsoft.com/office/officeart/2005/8/layout/orgChart1"/>
    <dgm:cxn modelId="{35058A8F-3A56-4647-B476-C652B489A103}" type="presParOf" srcId="{1FA4D154-0F3F-4F9E-B541-6D7C280FE3E8}" destId="{940851C3-BF7B-456F-BB13-C2083857E381}" srcOrd="2" destOrd="0" presId="urn:microsoft.com/office/officeart/2005/8/layout/orgChart1"/>
    <dgm:cxn modelId="{6F14DCC0-718F-4DD4-B1AD-4FC630491A05}" type="presParOf" srcId="{8E9477CB-1D87-4C58-A05F-65D7114D8F0F}" destId="{D5461B9D-E97F-4554-95AE-C576BFF4BA68}" srcOrd="2" destOrd="0" presId="urn:microsoft.com/office/officeart/2005/8/layout/orgChart1"/>
    <dgm:cxn modelId="{318C3404-1A42-4182-B672-5C750F5430EE}" type="presParOf" srcId="{8E9477CB-1D87-4C58-A05F-65D7114D8F0F}" destId="{4F0B1572-B23C-44DD-B867-292A1061D4E9}" srcOrd="3" destOrd="0" presId="urn:microsoft.com/office/officeart/2005/8/layout/orgChart1"/>
    <dgm:cxn modelId="{C1BB635B-F3E9-404D-A482-393C21F6944C}" type="presParOf" srcId="{4F0B1572-B23C-44DD-B867-292A1061D4E9}" destId="{0AF0B8D8-5EA6-4661-A749-E86631B70029}" srcOrd="0" destOrd="0" presId="urn:microsoft.com/office/officeart/2005/8/layout/orgChart1"/>
    <dgm:cxn modelId="{1F565628-B13F-4902-B40E-187D031CD9EE}" type="presParOf" srcId="{0AF0B8D8-5EA6-4661-A749-E86631B70029}" destId="{2BE7BE2A-89A2-4E14-8607-2BC060839A2E}" srcOrd="0" destOrd="0" presId="urn:microsoft.com/office/officeart/2005/8/layout/orgChart1"/>
    <dgm:cxn modelId="{792356BF-D0E6-4359-9066-247E9D39B710}" type="presParOf" srcId="{0AF0B8D8-5EA6-4661-A749-E86631B70029}" destId="{5E7238AE-9B69-4190-8BDA-507A639354CA}" srcOrd="1" destOrd="0" presId="urn:microsoft.com/office/officeart/2005/8/layout/orgChart1"/>
    <dgm:cxn modelId="{DF8BBE93-F3DA-47BC-A440-DDB7A0E8EBF6}" type="presParOf" srcId="{4F0B1572-B23C-44DD-B867-292A1061D4E9}" destId="{E40A465B-7A46-45FE-888E-0F8B1A04E148}" srcOrd="1" destOrd="0" presId="urn:microsoft.com/office/officeart/2005/8/layout/orgChart1"/>
    <dgm:cxn modelId="{C95E7230-BB33-478B-8B30-29452BA71F73}" type="presParOf" srcId="{4F0B1572-B23C-44DD-B867-292A1061D4E9}" destId="{B6CA2CF5-DE47-41FB-ABE1-282FB6212EE5}" srcOrd="2" destOrd="0" presId="urn:microsoft.com/office/officeart/2005/8/layout/orgChart1"/>
    <dgm:cxn modelId="{56C36130-40BE-456B-9009-8EC9C66E53FF}" type="presParOf" srcId="{D476DFEE-0799-4E5A-909F-8F6ED8CF4234}" destId="{19540B0B-7EB3-4047-8ED7-530C49433B0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61B9D-E97F-4554-95AE-C576BFF4BA68}">
      <dsp:nvSpPr>
        <dsp:cNvPr id="0" name=""/>
        <dsp:cNvSpPr/>
      </dsp:nvSpPr>
      <dsp:spPr>
        <a:xfrm>
          <a:off x="3791712" y="910520"/>
          <a:ext cx="1758548" cy="381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997"/>
              </a:lnTo>
              <a:lnTo>
                <a:pt x="1758548" y="190997"/>
              </a:lnTo>
              <a:lnTo>
                <a:pt x="1758548" y="381994"/>
              </a:lnTo>
            </a:path>
          </a:pathLst>
        </a:custGeom>
        <a:noFill/>
        <a:ln w="1905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4B4C98-E635-4D4F-97A7-0FBE113E0489}">
      <dsp:nvSpPr>
        <dsp:cNvPr id="0" name=""/>
        <dsp:cNvSpPr/>
      </dsp:nvSpPr>
      <dsp:spPr>
        <a:xfrm>
          <a:off x="2033163" y="910520"/>
          <a:ext cx="1758548" cy="381994"/>
        </a:xfrm>
        <a:custGeom>
          <a:avLst/>
          <a:gdLst/>
          <a:ahLst/>
          <a:cxnLst/>
          <a:rect l="0" t="0" r="0" b="0"/>
          <a:pathLst>
            <a:path>
              <a:moveTo>
                <a:pt x="1758548" y="0"/>
              </a:moveTo>
              <a:lnTo>
                <a:pt x="1758548" y="190997"/>
              </a:lnTo>
              <a:lnTo>
                <a:pt x="0" y="190997"/>
              </a:lnTo>
              <a:lnTo>
                <a:pt x="0" y="381994"/>
              </a:lnTo>
            </a:path>
          </a:pathLst>
        </a:custGeom>
        <a:noFill/>
        <a:ln w="1905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8E923D-69CC-4694-84CA-15F069969C87}">
      <dsp:nvSpPr>
        <dsp:cNvPr id="0" name=""/>
        <dsp:cNvSpPr/>
      </dsp:nvSpPr>
      <dsp:spPr>
        <a:xfrm>
          <a:off x="2440824" y="1009"/>
          <a:ext cx="2701775" cy="909510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Set of scenarios (763)</a:t>
          </a:r>
          <a:endParaRPr lang="en-IE" sz="2500" kern="1200" dirty="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40824" y="1009"/>
        <a:ext cx="2701775" cy="909510"/>
      </dsp:txXfrm>
    </dsp:sp>
    <dsp:sp modelId="{FF19F743-08B4-416D-983D-51AD7BD1A4DD}">
      <dsp:nvSpPr>
        <dsp:cNvPr id="0" name=""/>
        <dsp:cNvSpPr/>
      </dsp:nvSpPr>
      <dsp:spPr>
        <a:xfrm>
          <a:off x="465612" y="1292515"/>
          <a:ext cx="3135102" cy="850647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Emissions </a:t>
          </a:r>
        </a:p>
      </dsp:txBody>
      <dsp:txXfrm>
        <a:off x="465612" y="1292515"/>
        <a:ext cx="3135102" cy="850647"/>
      </dsp:txXfrm>
    </dsp:sp>
    <dsp:sp modelId="{2BE7BE2A-89A2-4E14-8607-2BC060839A2E}">
      <dsp:nvSpPr>
        <dsp:cNvPr id="0" name=""/>
        <dsp:cNvSpPr/>
      </dsp:nvSpPr>
      <dsp:spPr>
        <a:xfrm>
          <a:off x="3982709" y="1292515"/>
          <a:ext cx="3135102" cy="850647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Energy consumption </a:t>
          </a:r>
        </a:p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per capita</a:t>
          </a:r>
          <a:endParaRPr lang="en-IE" sz="2500" kern="1200" dirty="0">
            <a:solidFill>
              <a:srgbClr val="00206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2709" y="1292515"/>
        <a:ext cx="3135102" cy="850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DFBA8-54DC-4E86-A6DB-9AAE3953188A}" type="datetimeFigureOut">
              <a:rPr lang="en-IE" smtClean="0"/>
              <a:t>19/06/2026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FEF09-FA9A-4A07-8623-E49CD14C13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973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emissions alone do not guarantee development.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FEF09-FA9A-4A07-8623-E49CD14C1372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537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Renewables alone do not guarantee decarbonization. The key distinction is the structure of the energy system, particularly the role of natural gas and the scale of renewable deployment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FEF09-FA9A-4A07-8623-E49CD14C1372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580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22E1-AD26-00E8-EE09-B23FE281D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29F36-2078-3662-DC45-CFAD22CDA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51A2F-06F7-AECE-A291-05541266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F96B-654A-4B1D-902E-6559017299E7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D2078-F985-02BA-C7CB-6F5EADD8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A3BB-7DF2-93B3-9263-10E0601E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709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800D-A0DC-8AC7-AC39-72A274C3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3402-09BE-89BD-C24A-A8452D26F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68424-CF60-57AF-9AAD-D5829BD9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79996-AB53-4927-AEE3-FE7EC456DC47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124AD-66BF-4360-9280-BD755E52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E68CC-822B-5E94-7C16-5A5E208B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706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B627-8328-FE58-69AD-448DA3DF4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5A9C2-88E7-D0F7-AE53-427AA25C7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837F-0D25-C1B6-5718-3979A116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9418-5953-4671-9E62-FDA5B3B49DD6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BAF64-1F62-31DC-5EF2-1CF23311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3CE25-BA52-0A1A-0D40-AEED62A2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3130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5BA5-C30F-E11A-BBB9-85F5304D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958B-C8D1-02A7-D8D9-78AC779D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E5A29-A9BD-5C0E-6ADD-5BBDC4BCD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06FEC-1F22-3F12-EEEF-0939C4A6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736F5-AF9A-4375-B540-2A92CF9DA165}" type="datetime1">
              <a:rPr lang="en-IE" smtClean="0"/>
              <a:t>19/06/2026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661AA-D0FF-29D6-03BA-D0D2B464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D0151-0401-6F4D-00B8-E0E535ED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143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FC2D-CA05-1004-98E9-D4D12EC3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F94D2-07F6-536A-1352-30FCE81E8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12CE8-3B27-9C5F-F915-3E9C2D7A5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E8B2E-A722-7D1F-F1C0-CB52017A7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48988-856B-A506-B9BB-476E1DA83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E265F4-89C9-3EAA-7A7B-89E29FAA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775C-230D-4178-9F34-FC2BF0EF0D6F}" type="datetime1">
              <a:rPr lang="en-IE" smtClean="0"/>
              <a:t>19/06/2026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52F89-FFB7-B249-AC48-C7025269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E7F98-331D-9B90-A897-DCF8FE6E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479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EC85-2F95-1C40-394C-BAF862E5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A8BA5-0613-B7D5-110D-692EA996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B9F8-2564-4937-B40A-A638914BA7D4}" type="datetime1">
              <a:rPr lang="en-IE" smtClean="0"/>
              <a:t>19/06/2026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BABAC-7CAF-AC55-CFA8-D5A67B06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AC00B-0696-04AB-0C6B-D38CA606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76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AF83C-5602-1BB7-F40D-E2FC53A7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7564-29F6-416C-A131-FE95B5D94D70}" type="datetime1">
              <a:rPr lang="en-IE" smtClean="0"/>
              <a:t>19/06/2026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2135F-29AD-DC17-46C3-16D8F79B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0B51-44BB-DE05-0944-B2B41A95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49886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438A-A044-0DA3-9D48-78D6F397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13DED-1D50-377C-F446-90CC7888A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46547-3AE5-9B44-54DD-6C3849DA8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2F7AA-85BA-F4BE-6620-ECDB68DB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BA269-6028-49AA-BF97-D4A9D46917F4}" type="datetime1">
              <a:rPr lang="en-IE" smtClean="0"/>
              <a:t>19/06/2026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48679-43B7-A3A8-053D-70C06632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3D098-E463-4163-4A25-CC702CA5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074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820E-9225-730F-45A7-31196E74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AFC98-3120-4B96-70B4-0E5B3B950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18C5F-45EB-8352-2F1C-E4024609F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6DBA5-E952-3505-0358-4949CDF5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560B4-841A-4310-B32E-35138960E5ED}" type="datetime1">
              <a:rPr lang="en-IE" smtClean="0"/>
              <a:t>19/06/2026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928D5-B781-D301-A69D-B8DD564A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9CA03-EE8C-E36E-D16F-E924FD56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3319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CAE4-0593-7391-7BF4-DBB267223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87D11-DB87-9299-509C-CFB9B5D46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36290-40F0-42B3-4397-597F8CF3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4C422-E003-4B5C-A57C-8B653E9E7D10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1B1F4-AFD6-FC88-B3F8-4BAFB1D6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889C8-CB31-6570-C2A9-9D43697C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510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10D04-090F-A5F2-8143-2073E1D8C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8A4D8-9577-3B57-9B6A-B7CD2135F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2C2E-EB4E-86F2-7C9D-7EF51EEB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78CB-571A-4839-869A-9CC77B07FEBF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7416-7927-7AC1-97A5-43968DBF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4845-C74C-8130-781F-D6A22CCC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961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F96B-654A-4B1D-902E-6559017299E7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901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79996-AB53-4927-AEE3-FE7EC456DC47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2214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9418-5953-4671-9E62-FDA5B3B49DD6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92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736F5-AF9A-4375-B540-2A92CF9DA165}" type="datetime1">
              <a:rPr lang="en-IE" smtClean="0"/>
              <a:t>19/06/2026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30407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775C-230D-4178-9F34-FC2BF0EF0D6F}" type="datetime1">
              <a:rPr lang="en-IE" smtClean="0"/>
              <a:t>19/06/2026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9967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B9F8-2564-4937-B40A-A638914BA7D4}" type="datetime1">
              <a:rPr lang="en-IE" smtClean="0"/>
              <a:t>19/06/2026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57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7564-29F6-416C-A131-FE95B5D94D70}" type="datetime1">
              <a:rPr lang="en-IE" smtClean="0"/>
              <a:t>19/06/2026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576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B6BA269-6028-49AA-BF97-D4A9D46917F4}" type="datetime1">
              <a:rPr lang="en-IE" smtClean="0"/>
              <a:t>19/06/2026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5672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560B4-841A-4310-B32E-35138960E5ED}" type="datetime1">
              <a:rPr lang="en-IE" smtClean="0"/>
              <a:t>19/06/2026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9435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4C422-E003-4B5C-A57C-8B653E9E7D10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2819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78CB-571A-4839-869A-9CC77B07FEBF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620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AC3D0-1A8B-70E6-B9B0-14CCD001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C8F1-8346-2C8A-0C71-43BDEC62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ACABA-175D-38EC-3155-6C815C204A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A6DC7-256F-4213-AC31-3F2CB179C0CD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FD407-BEEA-2E7C-AFC6-BE5E704FD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9ABE-166D-DF67-F0C3-6195DFC0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149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4A6DC7-256F-4213-AC31-3F2CB179C0CD}" type="datetime1">
              <a:rPr lang="en-IE" smtClean="0"/>
              <a:t>19/06/2026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33009F8-BEC6-4841-B5B9-DC04F610B2A6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6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C695-6FC3-3AF8-E6F5-ED1C927E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2D1C-7ACC-7710-C821-968CE8B21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2346" y="333034"/>
            <a:ext cx="7107307" cy="64152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en-GB" sz="3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Net-Zero transition in Africa</a:t>
            </a:r>
            <a:endParaRPr lang="en-IE" sz="3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3928-79B4-54F5-D2A1-62287B59C62D}"/>
              </a:ext>
            </a:extLst>
          </p:cNvPr>
          <p:cNvSpPr txBox="1">
            <a:spLocks/>
          </p:cNvSpPr>
          <p:nvPr/>
        </p:nvSpPr>
        <p:spPr>
          <a:xfrm>
            <a:off x="1524000" y="6432223"/>
            <a:ext cx="9144000" cy="51150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PRISMA summer school, 14-19 June 2026, Geneva, Switzerland</a:t>
            </a:r>
            <a:endParaRPr lang="en-IE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F8904-0D3C-724B-E97A-DA7857573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7592" cy="1307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8FDC23-D94B-3268-F807-0CA474C6A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30" y="2748897"/>
            <a:ext cx="1184297" cy="1184297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4AA803F-34B8-7225-0D7E-FCF59763E5EE}"/>
              </a:ext>
            </a:extLst>
          </p:cNvPr>
          <p:cNvSpPr txBox="1">
            <a:spLocks/>
          </p:cNvSpPr>
          <p:nvPr/>
        </p:nvSpPr>
        <p:spPr>
          <a:xfrm>
            <a:off x="860776" y="2111742"/>
            <a:ext cx="1932432" cy="51150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Fatemeh</a:t>
            </a:r>
            <a:endParaRPr lang="en-IE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CDE819-D33B-80E6-6EAC-53A9544A9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571" y="4378115"/>
            <a:ext cx="1459425" cy="1459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C4DEA9-5A25-4D74-BF93-93584890D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767" y="2690733"/>
            <a:ext cx="1357303" cy="1242462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5EB4B5A-677F-F467-CA24-F9AC927C1B05}"/>
              </a:ext>
            </a:extLst>
          </p:cNvPr>
          <p:cNvSpPr txBox="1">
            <a:spLocks/>
          </p:cNvSpPr>
          <p:nvPr/>
        </p:nvSpPr>
        <p:spPr>
          <a:xfrm>
            <a:off x="6440805" y="2046731"/>
            <a:ext cx="1820418" cy="51150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Mackenzie</a:t>
            </a:r>
            <a:endParaRPr lang="en-IE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ACBEA4-9EEC-E626-365C-48AE1AEBBB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67" y="4402113"/>
            <a:ext cx="1450281" cy="145028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00F238BB-9D95-E083-AF96-BF3C33DDBEAC}"/>
              </a:ext>
            </a:extLst>
          </p:cNvPr>
          <p:cNvSpPr txBox="1">
            <a:spLocks/>
          </p:cNvSpPr>
          <p:nvPr/>
        </p:nvSpPr>
        <p:spPr>
          <a:xfrm>
            <a:off x="4100322" y="2071886"/>
            <a:ext cx="804672" cy="4611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Ian</a:t>
            </a:r>
            <a:endParaRPr lang="en-IE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67E3C7-AB09-00C9-0358-C22F0EDF31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003" y="2748898"/>
            <a:ext cx="1184297" cy="11842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956BB6-34A4-A46F-79BC-B4B6B7A8AF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274" y="4392969"/>
            <a:ext cx="1459425" cy="1459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FB7EDA-65AE-5499-D1D0-E3F6ED4305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741" y="4387259"/>
            <a:ext cx="1397144" cy="139714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A66619-D30A-0EF2-175D-036211CA5D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364" y="2748897"/>
            <a:ext cx="1184297" cy="1184297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3D45D31-6850-E705-A834-F567BD046EB1}"/>
              </a:ext>
            </a:extLst>
          </p:cNvPr>
          <p:cNvSpPr txBox="1">
            <a:spLocks/>
          </p:cNvSpPr>
          <p:nvPr/>
        </p:nvSpPr>
        <p:spPr>
          <a:xfrm>
            <a:off x="9239578" y="1998471"/>
            <a:ext cx="1820418" cy="51150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Praveen</a:t>
            </a:r>
            <a:endParaRPr lang="en-IE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29FFA9A-9B2F-5044-F9EF-262C29C51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5346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E7E7B-BB76-B19D-3EAB-8632D5C4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58" y="99949"/>
            <a:ext cx="3096375" cy="760600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E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86BFFB5-63F8-D2BC-ABB6-56C536DF8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750867"/>
              </p:ext>
            </p:extLst>
          </p:nvPr>
        </p:nvGraphicFramePr>
        <p:xfrm>
          <a:off x="4405884" y="944055"/>
          <a:ext cx="7583424" cy="2144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1AE305-3070-989A-48CF-F1ABF993A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853527"/>
              </p:ext>
            </p:extLst>
          </p:nvPr>
        </p:nvGraphicFramePr>
        <p:xfrm>
          <a:off x="1574672" y="3472307"/>
          <a:ext cx="9042655" cy="198424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565820">
                  <a:extLst>
                    <a:ext uri="{9D8B030D-6E8A-4147-A177-3AD203B41FA5}">
                      <a16:colId xmlns:a16="http://schemas.microsoft.com/office/drawing/2014/main" val="802228023"/>
                    </a:ext>
                  </a:extLst>
                </a:gridCol>
                <a:gridCol w="3243510">
                  <a:extLst>
                    <a:ext uri="{9D8B030D-6E8A-4147-A177-3AD203B41FA5}">
                      <a16:colId xmlns:a16="http://schemas.microsoft.com/office/drawing/2014/main" val="2678261984"/>
                    </a:ext>
                  </a:extLst>
                </a:gridCol>
                <a:gridCol w="3233325">
                  <a:extLst>
                    <a:ext uri="{9D8B030D-6E8A-4147-A177-3AD203B41FA5}">
                      <a16:colId xmlns:a16="http://schemas.microsoft.com/office/drawing/2014/main" val="1805236086"/>
                    </a:ext>
                  </a:extLst>
                </a:gridCol>
              </a:tblGrid>
              <a:tr h="6205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Metrics</a:t>
                      </a:r>
                      <a:endParaRPr lang="en-I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Low CO2 emission</a:t>
                      </a:r>
                      <a:endParaRPr lang="en-I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FFC000"/>
                          </a:solidFill>
                        </a:rPr>
                        <a:t>High CO2 emissions</a:t>
                      </a:r>
                      <a:endParaRPr lang="en-IE" dirty="0">
                        <a:solidFill>
                          <a:srgbClr val="FFC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711739"/>
                  </a:ext>
                </a:extLst>
              </a:tr>
              <a:tr h="6205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High energy per capita</a:t>
                      </a:r>
                      <a:endParaRPr lang="en-IE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Sustainability</a:t>
                      </a:r>
                      <a:endParaRPr lang="en-IE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Cabon intensive growth</a:t>
                      </a:r>
                      <a:endParaRPr lang="en-IE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772642"/>
                  </a:ext>
                </a:extLst>
              </a:tr>
              <a:tr h="74311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Low energy per capita</a:t>
                      </a:r>
                      <a:endParaRPr lang="en-IE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Low carbon &amp; energy poverty</a:t>
                      </a:r>
                      <a:endParaRPr lang="en-IE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High carbon &amp; energy poverty</a:t>
                      </a:r>
                      <a:endParaRPr lang="en-IE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064453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83FFE-061C-AE4E-DE69-B5E1EB8D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8656" y="6392926"/>
            <a:ext cx="2743200" cy="365125"/>
          </a:xfrm>
        </p:spPr>
        <p:txBody>
          <a:bodyPr/>
          <a:lstStyle/>
          <a:p>
            <a:fld id="{533009F8-BEC6-4841-B5B9-DC04F610B2A6}" type="slidenum">
              <a:rPr lang="en-IE" sz="14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2B39B8A-D23F-D88F-38AD-D6B7CF6F9CE0}"/>
              </a:ext>
            </a:extLst>
          </p:cNvPr>
          <p:cNvSpPr txBox="1">
            <a:spLocks/>
          </p:cNvSpPr>
          <p:nvPr/>
        </p:nvSpPr>
        <p:spPr>
          <a:xfrm>
            <a:off x="259842" y="1503646"/>
            <a:ext cx="4398264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2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 metrics for </a:t>
            </a:r>
          </a:p>
          <a:p>
            <a:pPr algn="ctr">
              <a:lnSpc>
                <a:spcPct val="150000"/>
              </a:lnSpc>
            </a:pPr>
            <a:r>
              <a:rPr lang="en-GB" sz="2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decision making</a:t>
            </a:r>
            <a:endParaRPr lang="en-IE" sz="25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7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64F6-7C30-CE0B-2EED-366926D4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AC0-2010-8082-48F9-3BE31B7E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654" y="610384"/>
            <a:ext cx="3759561" cy="878459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 Analysis</a:t>
            </a:r>
            <a:endParaRPr lang="en-IE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D1141-3706-3850-DE27-22E91DB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6944" y="6311900"/>
            <a:ext cx="2743200" cy="365125"/>
          </a:xfrm>
        </p:spPr>
        <p:txBody>
          <a:bodyPr/>
          <a:lstStyle/>
          <a:p>
            <a:fld id="{533009F8-BEC6-4841-B5B9-DC04F610B2A6}" type="slidenum">
              <a:rPr lang="en-IE" sz="14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318DF8-0C99-7DD2-EE39-244C17EFF072}"/>
              </a:ext>
            </a:extLst>
          </p:cNvPr>
          <p:cNvSpPr txBox="1">
            <a:spLocks/>
          </p:cNvSpPr>
          <p:nvPr/>
        </p:nvSpPr>
        <p:spPr>
          <a:xfrm>
            <a:off x="591312" y="1741368"/>
            <a:ext cx="2792730" cy="517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endParaRPr lang="en-GB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CE9719-C173-29E8-97A3-72AF2F98C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874" y="1741368"/>
            <a:ext cx="5658270" cy="3627789"/>
          </a:xfrm>
          <a:prstGeom prst="rect">
            <a:avLst/>
          </a:prstGeom>
        </p:spPr>
      </p:pic>
      <p:pic>
        <p:nvPicPr>
          <p:cNvPr id="13" name="Content Placeholder 10">
            <a:extLst>
              <a:ext uri="{FF2B5EF4-FFF2-40B4-BE49-F238E27FC236}">
                <a16:creationId xmlns:a16="http://schemas.microsoft.com/office/drawing/2014/main" id="{4B1AB7E1-A399-0CB4-DF3A-ABDB85A83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74" y="1741368"/>
            <a:ext cx="5304810" cy="390647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80A96AD-0590-3ABA-C19D-FA879C0F2C18}"/>
              </a:ext>
            </a:extLst>
          </p:cNvPr>
          <p:cNvSpPr txBox="1">
            <a:spLocks/>
          </p:cNvSpPr>
          <p:nvPr/>
        </p:nvSpPr>
        <p:spPr>
          <a:xfrm>
            <a:off x="694633" y="610384"/>
            <a:ext cx="5034225" cy="878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 Quadrants</a:t>
            </a:r>
            <a:endParaRPr lang="en-IE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76F6F19-D9EB-C0E3-5E7D-D9AB2407FF20}"/>
              </a:ext>
            </a:extLst>
          </p:cNvPr>
          <p:cNvSpPr txBox="1">
            <a:spLocks/>
          </p:cNvSpPr>
          <p:nvPr/>
        </p:nvSpPr>
        <p:spPr>
          <a:xfrm>
            <a:off x="4051419" y="4802456"/>
            <a:ext cx="1199904" cy="238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118 (15%)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E416DC6-1AE1-1D22-E8F7-676E077CF8AE}"/>
              </a:ext>
            </a:extLst>
          </p:cNvPr>
          <p:cNvSpPr txBox="1">
            <a:spLocks/>
          </p:cNvSpPr>
          <p:nvPr/>
        </p:nvSpPr>
        <p:spPr>
          <a:xfrm>
            <a:off x="4081076" y="3219205"/>
            <a:ext cx="1317891" cy="419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 (35%)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99823A-958A-236E-6DC4-6FAD269B262E}"/>
              </a:ext>
            </a:extLst>
          </p:cNvPr>
          <p:cNvSpPr txBox="1">
            <a:spLocks/>
          </p:cNvSpPr>
          <p:nvPr/>
        </p:nvSpPr>
        <p:spPr>
          <a:xfrm>
            <a:off x="1024436" y="4862246"/>
            <a:ext cx="963241" cy="35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E2A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153 (20%)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CF84446-E9EF-047B-7459-A4135D92B5E0}"/>
              </a:ext>
            </a:extLst>
          </p:cNvPr>
          <p:cNvSpPr txBox="1">
            <a:spLocks/>
          </p:cNvSpPr>
          <p:nvPr/>
        </p:nvSpPr>
        <p:spPr>
          <a:xfrm>
            <a:off x="1134840" y="2090847"/>
            <a:ext cx="1047922" cy="35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 (30%) </a:t>
            </a:r>
          </a:p>
        </p:txBody>
      </p:sp>
    </p:spTree>
    <p:extLst>
      <p:ext uri="{BB962C8B-B14F-4D97-AF65-F5344CB8AC3E}">
        <p14:creationId xmlns:p14="http://schemas.microsoft.com/office/powerpoint/2010/main" val="323300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CA6F02-2382-0393-58E9-25154BE26821}"/>
              </a:ext>
            </a:extLst>
          </p:cNvPr>
          <p:cNvSpPr txBox="1"/>
          <p:nvPr/>
        </p:nvSpPr>
        <p:spPr>
          <a:xfrm>
            <a:off x="420131" y="1632719"/>
            <a:ext cx="484156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Economic growth remains strong.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Solar and wind deployment reach substantial levels.</a:t>
            </a:r>
          </a:p>
          <a:p>
            <a:pPr marL="457200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Gas acts as a transition fuel (limited presence)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Near complete Coal phase-out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Population growth remains manageable (low-medium)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09453E-1C2C-F2BC-1996-566BEAF4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52" y="135130"/>
            <a:ext cx="8138651" cy="878459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Sustainable Development Corridor</a:t>
            </a:r>
            <a:endParaRPr lang="en-IE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FB2CDF-7F5B-51EE-3370-1E4900055C1F}"/>
              </a:ext>
            </a:extLst>
          </p:cNvPr>
          <p:cNvSpPr txBox="1">
            <a:spLocks/>
          </p:cNvSpPr>
          <p:nvPr/>
        </p:nvSpPr>
        <p:spPr>
          <a:xfrm>
            <a:off x="3534036" y="5407441"/>
            <a:ext cx="3867366" cy="517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206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Density = 84% </a:t>
            </a:r>
            <a:r>
              <a:rPr lang="en-GB" sz="2000" b="1" dirty="0">
                <a:solidFill>
                  <a:srgbClr val="00B05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GB" sz="2000" b="1" dirty="0">
                <a:solidFill>
                  <a:srgbClr val="C0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Coverage =81%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BEA86F-E187-DE80-5814-8520FDD57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7" r="7690" b="9409"/>
          <a:stretch>
            <a:fillRect/>
          </a:stretch>
        </p:blipFill>
        <p:spPr>
          <a:xfrm>
            <a:off x="10024394" y="147575"/>
            <a:ext cx="943897" cy="9122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390030-65B1-7E05-B336-F8DFF76EA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365" y="90151"/>
            <a:ext cx="1027064" cy="10270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059FF2-B6E8-926E-D482-FC12F147B3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252"/>
          <a:stretch>
            <a:fillRect/>
          </a:stretch>
        </p:blipFill>
        <p:spPr>
          <a:xfrm>
            <a:off x="5583917" y="1366793"/>
            <a:ext cx="6187952" cy="342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3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A8A0-4862-D757-4A6E-B7CA8380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104E35-2564-B099-A418-E36B76374B0F}"/>
              </a:ext>
            </a:extLst>
          </p:cNvPr>
          <p:cNvSpPr txBox="1"/>
          <p:nvPr/>
        </p:nvSpPr>
        <p:spPr>
          <a:xfrm>
            <a:off x="334299" y="1849161"/>
            <a:ext cx="43360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Lower economic development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Near phase-out of coal.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Lower energy from wind/solar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Lower energy from oil.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Continued reliance on traditional fuels (biomass).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BDE050-35F9-B29A-3079-ECB05BBF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52" y="135130"/>
            <a:ext cx="8138651" cy="878459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Carbon, Energy Poverty</a:t>
            </a:r>
            <a:endParaRPr lang="en-IE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FB1406-59E9-E80B-834D-BBA186233449}"/>
              </a:ext>
            </a:extLst>
          </p:cNvPr>
          <p:cNvSpPr txBox="1">
            <a:spLocks/>
          </p:cNvSpPr>
          <p:nvPr/>
        </p:nvSpPr>
        <p:spPr>
          <a:xfrm>
            <a:off x="3534036" y="5407441"/>
            <a:ext cx="3867366" cy="517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206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Density =82% </a:t>
            </a:r>
            <a:r>
              <a:rPr lang="en-GB" sz="2000" b="1" dirty="0">
                <a:solidFill>
                  <a:srgbClr val="00B05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GB" sz="2000" b="1" dirty="0">
                <a:solidFill>
                  <a:srgbClr val="C0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Coverage = 74%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DF5748-352B-EBFC-9BCF-CDF9CF2CB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7" r="7690" b="9409"/>
          <a:stretch>
            <a:fillRect/>
          </a:stretch>
        </p:blipFill>
        <p:spPr>
          <a:xfrm>
            <a:off x="8362743" y="200633"/>
            <a:ext cx="943897" cy="9122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3D7392-A564-E684-C0AD-9FADCABFD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640" y="12323"/>
            <a:ext cx="1202730" cy="12027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696EB4-108D-AD77-D146-708C0CE91E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421"/>
          <a:stretch>
            <a:fillRect/>
          </a:stretch>
        </p:blipFill>
        <p:spPr>
          <a:xfrm>
            <a:off x="4747429" y="1416517"/>
            <a:ext cx="6935093" cy="360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3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030C-0AAB-940C-F8CB-D4DB6BBB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6EA29C-D053-1BF9-B1DC-BC2B0307F14C}"/>
              </a:ext>
            </a:extLst>
          </p:cNvPr>
          <p:cNvSpPr txBox="1"/>
          <p:nvPr/>
        </p:nvSpPr>
        <p:spPr>
          <a:xfrm>
            <a:off x="442450" y="1899843"/>
            <a:ext cx="45425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Insufficient wind deployment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Continued use of Oil &amp; Gas.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Inadequate solar and nuclear contribution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7E62AB-D2A1-9350-45AD-9D73068F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52" y="135130"/>
            <a:ext cx="8138651" cy="878459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Carbon, Energy Poverty</a:t>
            </a:r>
            <a:endParaRPr lang="en-IE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63BEDB-9B36-E2C2-174F-2E6689A2FD38}"/>
              </a:ext>
            </a:extLst>
          </p:cNvPr>
          <p:cNvSpPr txBox="1">
            <a:spLocks/>
          </p:cNvSpPr>
          <p:nvPr/>
        </p:nvSpPr>
        <p:spPr>
          <a:xfrm>
            <a:off x="3534036" y="5407441"/>
            <a:ext cx="3867366" cy="517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206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Density =80% </a:t>
            </a:r>
            <a:r>
              <a:rPr lang="en-GB" sz="2000" b="1" dirty="0">
                <a:solidFill>
                  <a:srgbClr val="00B05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GB" sz="2000" b="1" dirty="0">
                <a:solidFill>
                  <a:srgbClr val="C0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Coverage = 65%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B2847-4EAE-1A4B-E388-AC3495F42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976" y="0"/>
            <a:ext cx="1202730" cy="1202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F4D9F8-D130-1B59-8885-9ACECB3A49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769"/>
          <a:stretch>
            <a:fillRect/>
          </a:stretch>
        </p:blipFill>
        <p:spPr>
          <a:xfrm>
            <a:off x="5197172" y="1409143"/>
            <a:ext cx="6552378" cy="3602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176EED-8FAB-D8DE-1F3E-E2D083B3B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407" y="0"/>
            <a:ext cx="1328144" cy="105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5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912E-4ABE-B968-AA2B-980BE3DA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783BFE-7E60-FF7C-E2F9-82D0FD14065F}"/>
              </a:ext>
            </a:extLst>
          </p:cNvPr>
          <p:cNvSpPr txBox="1"/>
          <p:nvPr/>
        </p:nvSpPr>
        <p:spPr>
          <a:xfrm>
            <a:off x="420131" y="1632719"/>
            <a:ext cx="48415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Economic growth remains strong.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Medium presence in wind energy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Higher gas compared to Sustainable scenario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Population growth remains (low-medium)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15D2C8-6822-6C5A-3343-D4B1BA58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52" y="135130"/>
            <a:ext cx="8138651" cy="878459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Carbon Intensive Growth</a:t>
            </a:r>
            <a:endParaRPr lang="en-IE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9274F9-E819-0339-83EC-84D308F56C47}"/>
              </a:ext>
            </a:extLst>
          </p:cNvPr>
          <p:cNvSpPr txBox="1">
            <a:spLocks/>
          </p:cNvSpPr>
          <p:nvPr/>
        </p:nvSpPr>
        <p:spPr>
          <a:xfrm>
            <a:off x="3534036" y="5407441"/>
            <a:ext cx="3867366" cy="517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206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Density = 100% </a:t>
            </a:r>
            <a:r>
              <a:rPr lang="en-GB" sz="2000" b="1" dirty="0">
                <a:solidFill>
                  <a:srgbClr val="00B05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GB" sz="2000" b="1" dirty="0">
                <a:solidFill>
                  <a:srgbClr val="C0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Coverage =60%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DD9E57-63E4-3177-87D9-7E1AF0F15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365" y="90151"/>
            <a:ext cx="1027064" cy="10270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81F7A2-E413-BDFA-907C-50F647C650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947"/>
          <a:stretch>
            <a:fillRect/>
          </a:stretch>
        </p:blipFill>
        <p:spPr>
          <a:xfrm>
            <a:off x="5261695" y="1233082"/>
            <a:ext cx="6688402" cy="3602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908E86-8B02-9EA0-A11C-F2F7EE1A0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033" y="0"/>
            <a:ext cx="1328144" cy="105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1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B9B8-578B-1804-1A7D-B7F5563B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21C8-FD0D-8213-77EA-0042725CC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6" y="180975"/>
            <a:ext cx="10515600" cy="878459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E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61491-F571-9597-6F9F-F8352E95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6944" y="6311900"/>
            <a:ext cx="2743200" cy="365125"/>
          </a:xfrm>
        </p:spPr>
        <p:txBody>
          <a:bodyPr/>
          <a:lstStyle/>
          <a:p>
            <a:fld id="{533009F8-BEC6-4841-B5B9-DC04F610B2A6}" type="slidenum">
              <a:rPr lang="en-IE" sz="14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0B736A-379D-DC5B-ADE3-1240C6673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188451"/>
            <a:ext cx="7145214" cy="4318046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Africa's challenge is not simply reducing emissions. </a:t>
            </a:r>
          </a:p>
          <a:p>
            <a:pPr algn="just"/>
            <a:r>
              <a:rPr lang="en-IN" sz="2400" dirty="0"/>
              <a:t>The scenario discovery analysis shows that low-emission futures can still result in persistent energy poverty if modern energy deployment remains inadequate.</a:t>
            </a:r>
          </a:p>
          <a:p>
            <a:pPr algn="just"/>
            <a:r>
              <a:rPr lang="en-IN" sz="2400" dirty="0"/>
              <a:t>Sustainable development emerges only when economic growth is accompanied by large-scale deployment of modern low-carbon energy sources, particularly solar and wind, while avoiding excessive dependence on fossil fuels.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4C68D-DE33-AB62-E122-B0BC5EB7B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531" y="1761207"/>
            <a:ext cx="4084468" cy="234856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280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310</TotalTime>
  <Words>342</Words>
  <Application>Microsoft Office PowerPoint</Application>
  <PresentationFormat>Widescreen</PresentationFormat>
  <Paragraphs>64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Calibri Light</vt:lpstr>
      <vt:lpstr>Office Theme</vt:lpstr>
      <vt:lpstr>Retrospect</vt:lpstr>
      <vt:lpstr>Net-Zero transition in Africa</vt:lpstr>
      <vt:lpstr>Introduction</vt:lpstr>
      <vt:lpstr>PRIM Analysis</vt:lpstr>
      <vt:lpstr>Sustainable Development Corridor</vt:lpstr>
      <vt:lpstr>Low Carbon, Energy Poverty</vt:lpstr>
      <vt:lpstr>High Carbon, Energy Poverty</vt:lpstr>
      <vt:lpstr>Carbon Intensive Growth</vt:lpstr>
      <vt:lpstr>Conclusion</vt:lpstr>
    </vt:vector>
  </TitlesOfParts>
  <Company>University College Cork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Fatemeh Rostami</dc:creator>
  <cp:lastModifiedBy>Praveen P</cp:lastModifiedBy>
  <cp:revision>9</cp:revision>
  <dcterms:created xsi:type="dcterms:W3CDTF">2026-06-18T09:32:23Z</dcterms:created>
  <dcterms:modified xsi:type="dcterms:W3CDTF">2026-06-18T21:41:22Z</dcterms:modified>
</cp:coreProperties>
</file>